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0" r:id="rId5"/>
    <p:sldId id="266" r:id="rId6"/>
    <p:sldId id="259" r:id="rId7"/>
    <p:sldId id="261" r:id="rId8"/>
    <p:sldId id="270" r:id="rId9"/>
    <p:sldId id="265" r:id="rId10"/>
    <p:sldId id="262" r:id="rId11"/>
    <p:sldId id="263" r:id="rId12"/>
    <p:sldId id="264" r:id="rId13"/>
    <p:sldId id="267" r:id="rId14"/>
    <p:sldId id="271" r:id="rId15"/>
    <p:sldId id="268" r:id="rId16"/>
    <p:sldId id="269"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915" autoAdjust="0"/>
  </p:normalViewPr>
  <p:slideViewPr>
    <p:cSldViewPr snapToGrid="0">
      <p:cViewPr>
        <p:scale>
          <a:sx n="87" d="100"/>
          <a:sy n="87" d="100"/>
        </p:scale>
        <p:origin x="183" y="180"/>
      </p:cViewPr>
      <p:guideLst/>
    </p:cSldViewPr>
  </p:slideViewPr>
  <p:notesTextViewPr>
    <p:cViewPr>
      <p:scale>
        <a:sx n="25" d="100"/>
        <a:sy n="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26F07-BE37-4A02-BD01-4261D2AF2EED}"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276A2-050E-424D-BAFC-9A7F77F66629}" type="slidenum">
              <a:rPr lang="en-US" smtClean="0"/>
              <a:t>‹#›</a:t>
            </a:fld>
            <a:endParaRPr lang="en-US"/>
          </a:p>
        </p:txBody>
      </p:sp>
    </p:spTree>
    <p:extLst>
      <p:ext uri="{BB962C8B-B14F-4D97-AF65-F5344CB8AC3E}">
        <p14:creationId xmlns:p14="http://schemas.microsoft.com/office/powerpoint/2010/main" val="960638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8276A2-050E-424D-BAFC-9A7F77F66629}" type="slidenum">
              <a:rPr lang="en-US" smtClean="0"/>
              <a:t>5</a:t>
            </a:fld>
            <a:endParaRPr lang="en-US"/>
          </a:p>
        </p:txBody>
      </p:sp>
    </p:spTree>
    <p:extLst>
      <p:ext uri="{BB962C8B-B14F-4D97-AF65-F5344CB8AC3E}">
        <p14:creationId xmlns:p14="http://schemas.microsoft.com/office/powerpoint/2010/main" val="2359944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3297-1850-4BA9-BC19-E73CCF79F3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E42E13-6843-864B-2F6E-515E5DD9CE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570555-3BA5-61FA-6B86-A131DE320F73}"/>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5" name="Footer Placeholder 4">
            <a:extLst>
              <a:ext uri="{FF2B5EF4-FFF2-40B4-BE49-F238E27FC236}">
                <a16:creationId xmlns:a16="http://schemas.microsoft.com/office/drawing/2014/main" id="{FF7D2F19-CAD2-82B7-6DA7-38FDCB4DC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173587-FCA1-27BB-EB5D-8AD87066A044}"/>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1461718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8F4C6-D6DC-6486-6DFF-6350C091BC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7E7504-0518-419F-9FCB-DD259758B6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E41E0-C8E2-F952-8C76-E137BF17E39B}"/>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5" name="Footer Placeholder 4">
            <a:extLst>
              <a:ext uri="{FF2B5EF4-FFF2-40B4-BE49-F238E27FC236}">
                <a16:creationId xmlns:a16="http://schemas.microsoft.com/office/drawing/2014/main" id="{A3285668-EA49-EE3C-58AA-DB9D0CA4A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775A4-973E-DD61-F164-5DB7AE58FAC1}"/>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113908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04252-B917-368E-A6FF-BECC3B9420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C241F4-D9A4-2CCB-BEC1-09D46E462F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06F359-29A8-D586-BB79-1F8998B0014F}"/>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5" name="Footer Placeholder 4">
            <a:extLst>
              <a:ext uri="{FF2B5EF4-FFF2-40B4-BE49-F238E27FC236}">
                <a16:creationId xmlns:a16="http://schemas.microsoft.com/office/drawing/2014/main" id="{1F24340C-F553-CD3D-EA37-D48D79F9D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2E1EE-A5C1-0FF7-EC10-BAB32391905F}"/>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677577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A3CA0-340C-329F-DB7A-D61BA10AEC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7D24A9-DAC9-05D8-0307-825484B988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D60485-4AB1-829F-437C-586109DE1F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A4964B-1291-171A-21A6-F6A604E15280}"/>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6" name="Footer Placeholder 5">
            <a:extLst>
              <a:ext uri="{FF2B5EF4-FFF2-40B4-BE49-F238E27FC236}">
                <a16:creationId xmlns:a16="http://schemas.microsoft.com/office/drawing/2014/main" id="{C7D9944E-BE79-062D-6CC7-FF3DA81CE3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103720-F5CE-012A-E58C-33C5EAFDDBC6}"/>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1179148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2C7F-EB0F-80F9-D9F4-FDEAEDE471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E0E9DD-4D9C-DE7F-AA74-FE0B0C2AB4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36C3E2-209A-A9E3-B252-5AAB87FDE7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6B1C5B-3F94-1B92-F19C-838FF81444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792C16-8050-A6B9-1387-57F5637AB8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8BB6D1-06D7-B3D3-C87D-BA456000A9E7}"/>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8" name="Footer Placeholder 7">
            <a:extLst>
              <a:ext uri="{FF2B5EF4-FFF2-40B4-BE49-F238E27FC236}">
                <a16:creationId xmlns:a16="http://schemas.microsoft.com/office/drawing/2014/main" id="{A4273B38-832B-F07A-AF55-ADA0A842E0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18E0BD-CF3E-F7C3-EEFC-D4AC6CE4D779}"/>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45861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6A06-34EF-7321-5792-301AC73833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4B4BCC-5723-5913-EE7F-CF7C65B72917}"/>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4" name="Footer Placeholder 3">
            <a:extLst>
              <a:ext uri="{FF2B5EF4-FFF2-40B4-BE49-F238E27FC236}">
                <a16:creationId xmlns:a16="http://schemas.microsoft.com/office/drawing/2014/main" id="{0F3DC3F5-9427-05BB-2B1E-FCCEB6AC11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55C800-753A-EBCA-EFDD-454ADFC2E6A5}"/>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998816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4701D-41CA-0BD7-C71F-10337C53D111}"/>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3" name="Footer Placeholder 2">
            <a:extLst>
              <a:ext uri="{FF2B5EF4-FFF2-40B4-BE49-F238E27FC236}">
                <a16:creationId xmlns:a16="http://schemas.microsoft.com/office/drawing/2014/main" id="{FD6BE7C6-E97A-EA1D-CE9C-2C5EE8ADEC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0E606B-D809-D1B9-E71D-B165EF09C608}"/>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2144452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AACE9-5D9A-3809-AD5C-4977FC1FC9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A565C7-4AF3-2A49-4664-CBA7836B93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7E77D6-3F0D-5592-8AD5-38F7441944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34D08E-81DF-E87A-E6FF-7C679701BB70}"/>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6" name="Footer Placeholder 5">
            <a:extLst>
              <a:ext uri="{FF2B5EF4-FFF2-40B4-BE49-F238E27FC236}">
                <a16:creationId xmlns:a16="http://schemas.microsoft.com/office/drawing/2014/main" id="{59796336-FF92-52CB-B0FE-4803C785E7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BF7560-196F-F08D-8D7A-BD164B394E90}"/>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883906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58C5-8367-E406-EFA7-C63A77BE0E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20CA58-3EC6-5A6A-E002-ABCFDAD464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2E2865-4154-0D06-11D6-2DBCE6682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2D77FE-6D35-25FC-9732-1B9495386DDE}"/>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6" name="Footer Placeholder 5">
            <a:extLst>
              <a:ext uri="{FF2B5EF4-FFF2-40B4-BE49-F238E27FC236}">
                <a16:creationId xmlns:a16="http://schemas.microsoft.com/office/drawing/2014/main" id="{CEC9CB61-2E70-7C10-F579-A375ABD14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9E66F-F8E3-4175-D238-6A8DD14FC490}"/>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1480779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60BB-F4AE-1FE9-75AD-2C6935880E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F93406-4BE1-A67F-930F-8850F6B179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E860E-4458-F52A-D87E-37048C0D3197}"/>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5" name="Footer Placeholder 4">
            <a:extLst>
              <a:ext uri="{FF2B5EF4-FFF2-40B4-BE49-F238E27FC236}">
                <a16:creationId xmlns:a16="http://schemas.microsoft.com/office/drawing/2014/main" id="{331425DE-AE17-4111-0D9D-156944614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689D1-CE1E-81CD-EE52-78AF569F515A}"/>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4048324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EA1E01-D9D9-D72A-2064-E13BD01C9A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14E1CE-C71D-44BC-8B34-701B577C92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E992B2-B593-4A19-D219-29ED09DB4075}"/>
              </a:ext>
            </a:extLst>
          </p:cNvPr>
          <p:cNvSpPr>
            <a:spLocks noGrp="1"/>
          </p:cNvSpPr>
          <p:nvPr>
            <p:ph type="dt" sz="half" idx="10"/>
          </p:nvPr>
        </p:nvSpPr>
        <p:spPr/>
        <p:txBody>
          <a:bodyPr/>
          <a:lstStyle/>
          <a:p>
            <a:fld id="{1BFDA0C6-014D-4959-8E40-87FB227AA6DB}" type="datetimeFigureOut">
              <a:rPr lang="en-US" smtClean="0"/>
              <a:t>11/9/2025</a:t>
            </a:fld>
            <a:endParaRPr lang="en-US"/>
          </a:p>
        </p:txBody>
      </p:sp>
      <p:sp>
        <p:nvSpPr>
          <p:cNvPr id="5" name="Footer Placeholder 4">
            <a:extLst>
              <a:ext uri="{FF2B5EF4-FFF2-40B4-BE49-F238E27FC236}">
                <a16:creationId xmlns:a16="http://schemas.microsoft.com/office/drawing/2014/main" id="{92690893-D6D0-7B0B-AF6C-F3E85A9EA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BA140-9FBE-3633-23F4-1A944A913012}"/>
              </a:ext>
            </a:extLst>
          </p:cNvPr>
          <p:cNvSpPr>
            <a:spLocks noGrp="1"/>
          </p:cNvSpPr>
          <p:nvPr>
            <p:ph type="sldNum" sz="quarter" idx="12"/>
          </p:nvPr>
        </p:nvSpPr>
        <p:spPr/>
        <p:txBody>
          <a:bodyPr/>
          <a:lstStyle/>
          <a:p>
            <a:fld id="{0B375CFD-F0B0-49A1-BAEA-5FC104D34A7F}" type="slidenum">
              <a:rPr lang="en-US" smtClean="0"/>
              <a:t>‹#›</a:t>
            </a:fld>
            <a:endParaRPr lang="en-US"/>
          </a:p>
        </p:txBody>
      </p:sp>
    </p:spTree>
    <p:extLst>
      <p:ext uri="{BB962C8B-B14F-4D97-AF65-F5344CB8AC3E}">
        <p14:creationId xmlns:p14="http://schemas.microsoft.com/office/powerpoint/2010/main" val="3263237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0228B9-4A72-79A4-F2FE-D33A0AB742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F17167-ADA0-96D7-F2F4-47E76FA3B0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F21F0-DD41-22F2-EEAC-4BDDBC7501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DA0C6-014D-4959-8E40-87FB227AA6DB}" type="datetimeFigureOut">
              <a:rPr lang="en-US" smtClean="0"/>
              <a:t>11/9/2025</a:t>
            </a:fld>
            <a:endParaRPr lang="en-US"/>
          </a:p>
        </p:txBody>
      </p:sp>
      <p:sp>
        <p:nvSpPr>
          <p:cNvPr id="5" name="Footer Placeholder 4">
            <a:extLst>
              <a:ext uri="{FF2B5EF4-FFF2-40B4-BE49-F238E27FC236}">
                <a16:creationId xmlns:a16="http://schemas.microsoft.com/office/drawing/2014/main" id="{1F7686C8-5626-1E3B-0ACE-78856FCC76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8FA99B-09FE-EB53-BE2D-0F1EB10EB6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375CFD-F0B0-49A1-BAEA-5FC104D34A7F}" type="slidenum">
              <a:rPr lang="en-US" smtClean="0"/>
              <a:t>‹#›</a:t>
            </a:fld>
            <a:endParaRPr lang="en-US"/>
          </a:p>
        </p:txBody>
      </p:sp>
    </p:spTree>
    <p:extLst>
      <p:ext uri="{BB962C8B-B14F-4D97-AF65-F5344CB8AC3E}">
        <p14:creationId xmlns:p14="http://schemas.microsoft.com/office/powerpoint/2010/main" val="1655941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TujWp_L2J0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5EF73-D906-D089-E3BC-816A73786018}"/>
              </a:ext>
            </a:extLst>
          </p:cNvPr>
          <p:cNvSpPr>
            <a:spLocks noGrp="1"/>
          </p:cNvSpPr>
          <p:nvPr>
            <p:ph type="ctrTitle"/>
          </p:nvPr>
        </p:nvSpPr>
        <p:spPr/>
        <p:txBody>
          <a:bodyPr/>
          <a:lstStyle/>
          <a:p>
            <a:r>
              <a:rPr lang="en-US" noProof="0" dirty="0" err="1"/>
              <a:t>QuPath</a:t>
            </a:r>
            <a:r>
              <a:rPr lang="en-US" noProof="0" dirty="0"/>
              <a:t> (pos)cell counting optimization guide</a:t>
            </a:r>
          </a:p>
        </p:txBody>
      </p:sp>
      <p:sp>
        <p:nvSpPr>
          <p:cNvPr id="3" name="Subtitle 2">
            <a:extLst>
              <a:ext uri="{FF2B5EF4-FFF2-40B4-BE49-F238E27FC236}">
                <a16:creationId xmlns:a16="http://schemas.microsoft.com/office/drawing/2014/main" id="{1E0F0841-9B59-F997-674C-38108E4D306E}"/>
              </a:ext>
            </a:extLst>
          </p:cNvPr>
          <p:cNvSpPr>
            <a:spLocks noGrp="1"/>
          </p:cNvSpPr>
          <p:nvPr>
            <p:ph type="subTitle" idx="1"/>
          </p:nvPr>
        </p:nvSpPr>
        <p:spPr/>
        <p:txBody>
          <a:bodyPr/>
          <a:lstStyle/>
          <a:p>
            <a:r>
              <a:rPr lang="en-US" noProof="0" dirty="0"/>
              <a:t>Version 0.3, 29-07-2025</a:t>
            </a:r>
          </a:p>
          <a:p>
            <a:endParaRPr lang="en-US" noProof="0" dirty="0"/>
          </a:p>
          <a:p>
            <a:r>
              <a:rPr lang="en-US" noProof="0" dirty="0"/>
              <a:t>By Arian Mohammadi</a:t>
            </a:r>
          </a:p>
        </p:txBody>
      </p:sp>
      <p:sp>
        <p:nvSpPr>
          <p:cNvPr id="4" name="TextBox 3">
            <a:extLst>
              <a:ext uri="{FF2B5EF4-FFF2-40B4-BE49-F238E27FC236}">
                <a16:creationId xmlns:a16="http://schemas.microsoft.com/office/drawing/2014/main" id="{EF13F000-BBF1-D19D-75E9-BBC80F16D89F}"/>
              </a:ext>
            </a:extLst>
          </p:cNvPr>
          <p:cNvSpPr txBox="1"/>
          <p:nvPr/>
        </p:nvSpPr>
        <p:spPr>
          <a:xfrm>
            <a:off x="9339942" y="4429919"/>
            <a:ext cx="2590801" cy="1754326"/>
          </a:xfrm>
          <a:prstGeom prst="rect">
            <a:avLst/>
          </a:prstGeom>
          <a:noFill/>
        </p:spPr>
        <p:txBody>
          <a:bodyPr wrap="square" rtlCol="0">
            <a:spAutoFit/>
          </a:bodyPr>
          <a:lstStyle/>
          <a:p>
            <a:r>
              <a:rPr lang="en-US" noProof="0" dirty="0"/>
              <a:t>Parameter recommendations are for BF microscopy with 400x magnification</a:t>
            </a:r>
          </a:p>
          <a:p>
            <a:endParaRPr lang="en-US" noProof="0" dirty="0"/>
          </a:p>
          <a:p>
            <a:r>
              <a:rPr lang="en-US" noProof="0" dirty="0"/>
              <a:t>Works with any tissue</a:t>
            </a:r>
          </a:p>
        </p:txBody>
      </p:sp>
    </p:spTree>
    <p:extLst>
      <p:ext uri="{BB962C8B-B14F-4D97-AF65-F5344CB8AC3E}">
        <p14:creationId xmlns:p14="http://schemas.microsoft.com/office/powerpoint/2010/main" val="3411122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7F2F-798A-FAB3-5001-0AF931792E38}"/>
              </a:ext>
            </a:extLst>
          </p:cNvPr>
          <p:cNvSpPr>
            <a:spLocks noGrp="1"/>
          </p:cNvSpPr>
          <p:nvPr>
            <p:ph type="title"/>
          </p:nvPr>
        </p:nvSpPr>
        <p:spPr>
          <a:xfrm>
            <a:off x="489857" y="-130175"/>
            <a:ext cx="10515600" cy="1325563"/>
          </a:xfrm>
        </p:spPr>
        <p:txBody>
          <a:bodyPr/>
          <a:lstStyle/>
          <a:p>
            <a:r>
              <a:rPr lang="en-US" noProof="0" dirty="0"/>
              <a:t>Overall explanation</a:t>
            </a:r>
          </a:p>
        </p:txBody>
      </p:sp>
      <p:pic>
        <p:nvPicPr>
          <p:cNvPr id="5" name="Picture 4">
            <a:extLst>
              <a:ext uri="{FF2B5EF4-FFF2-40B4-BE49-F238E27FC236}">
                <a16:creationId xmlns:a16="http://schemas.microsoft.com/office/drawing/2014/main" id="{A048E20D-CB5E-57AD-D441-F46505B0FCA5}"/>
              </a:ext>
            </a:extLst>
          </p:cNvPr>
          <p:cNvPicPr>
            <a:picLocks noChangeAspect="1"/>
          </p:cNvPicPr>
          <p:nvPr/>
        </p:nvPicPr>
        <p:blipFill>
          <a:blip r:embed="rId2"/>
          <a:stretch>
            <a:fillRect/>
          </a:stretch>
        </p:blipFill>
        <p:spPr>
          <a:xfrm>
            <a:off x="7759206" y="0"/>
            <a:ext cx="4432794" cy="6858000"/>
          </a:xfrm>
          <a:prstGeom prst="rect">
            <a:avLst/>
          </a:prstGeom>
        </p:spPr>
      </p:pic>
      <p:sp>
        <p:nvSpPr>
          <p:cNvPr id="6" name="Content Placeholder 2">
            <a:extLst>
              <a:ext uri="{FF2B5EF4-FFF2-40B4-BE49-F238E27FC236}">
                <a16:creationId xmlns:a16="http://schemas.microsoft.com/office/drawing/2014/main" id="{E1A797E2-4B70-45FD-4953-34A59E3D3826}"/>
              </a:ext>
            </a:extLst>
          </p:cNvPr>
          <p:cNvSpPr>
            <a:spLocks noGrp="1"/>
          </p:cNvSpPr>
          <p:nvPr>
            <p:ph idx="1"/>
          </p:nvPr>
        </p:nvSpPr>
        <p:spPr>
          <a:xfrm>
            <a:off x="838200" y="1569810"/>
            <a:ext cx="4974771" cy="4351338"/>
          </a:xfrm>
        </p:spPr>
        <p:txBody>
          <a:bodyPr>
            <a:normAutofit/>
          </a:bodyPr>
          <a:lstStyle/>
          <a:p>
            <a:pPr marL="0" indent="0">
              <a:lnSpc>
                <a:spcPct val="150000"/>
              </a:lnSpc>
              <a:buNone/>
            </a:pPr>
            <a:r>
              <a:rPr lang="en-US" sz="1800" noProof="0" dirty="0"/>
              <a:t>Starting </a:t>
            </a:r>
            <a:r>
              <a:rPr lang="en-US" sz="1800" noProof="0" dirty="0" err="1"/>
              <a:t>QuPath‘s</a:t>
            </a:r>
            <a:r>
              <a:rPr lang="en-US" sz="1800" noProof="0" dirty="0"/>
              <a:t> cell detection, you will be met with the </a:t>
            </a:r>
            <a:r>
              <a:rPr lang="en-US" sz="1800" noProof="0" dirty="0" err="1"/>
              <a:t>seetings</a:t>
            </a:r>
            <a:r>
              <a:rPr lang="en-US" sz="1800" noProof="0" dirty="0"/>
              <a:t>, seen in the picture on the right. There are some settings/parameters/staining vectors you might want to change before starting your cell detection.</a:t>
            </a:r>
          </a:p>
          <a:p>
            <a:pPr marL="0" indent="0">
              <a:lnSpc>
                <a:spcPct val="150000"/>
              </a:lnSpc>
              <a:buNone/>
            </a:pPr>
            <a:endParaRPr lang="en-US" sz="1800" u="sng" noProof="0" dirty="0"/>
          </a:p>
          <a:p>
            <a:pPr marL="0" indent="0">
              <a:lnSpc>
                <a:spcPct val="150000"/>
              </a:lnSpc>
              <a:buNone/>
            </a:pPr>
            <a:r>
              <a:rPr lang="en-US" sz="1800" u="sng" dirty="0"/>
              <a:t>By the Way: </a:t>
            </a:r>
            <a:r>
              <a:rPr lang="en-US" sz="1800" b="1" u="sng" dirty="0"/>
              <a:t> Your settings won’t be saved. Create a script when you find optimal values.</a:t>
            </a:r>
            <a:endParaRPr lang="en-US" sz="1800" u="sng" noProof="0" dirty="0"/>
          </a:p>
          <a:p>
            <a:pPr marL="0" indent="0">
              <a:lnSpc>
                <a:spcPct val="150000"/>
              </a:lnSpc>
              <a:buNone/>
            </a:pPr>
            <a:endParaRPr lang="en-US" sz="1800" u="sng" noProof="0" dirty="0"/>
          </a:p>
          <a:p>
            <a:pPr marL="0" indent="0">
              <a:lnSpc>
                <a:spcPct val="150000"/>
              </a:lnSpc>
              <a:buNone/>
            </a:pPr>
            <a:endParaRPr lang="en-US" sz="1800" u="sng" noProof="0" dirty="0"/>
          </a:p>
          <a:p>
            <a:pPr marL="0" indent="0">
              <a:lnSpc>
                <a:spcPct val="150000"/>
              </a:lnSpc>
              <a:buNone/>
            </a:pPr>
            <a:endParaRPr lang="en-US" sz="1800" u="sng" noProof="0" dirty="0"/>
          </a:p>
          <a:p>
            <a:pPr marL="0" indent="0">
              <a:lnSpc>
                <a:spcPct val="150000"/>
              </a:lnSpc>
              <a:buNone/>
            </a:pPr>
            <a:endParaRPr lang="en-US" sz="1800" noProof="0" dirty="0"/>
          </a:p>
          <a:p>
            <a:pPr>
              <a:lnSpc>
                <a:spcPct val="150000"/>
              </a:lnSpc>
            </a:pPr>
            <a:endParaRPr lang="en-US" sz="1800" noProof="0" dirty="0"/>
          </a:p>
        </p:txBody>
      </p:sp>
    </p:spTree>
    <p:extLst>
      <p:ext uri="{BB962C8B-B14F-4D97-AF65-F5344CB8AC3E}">
        <p14:creationId xmlns:p14="http://schemas.microsoft.com/office/powerpoint/2010/main" val="956695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8379-B4D4-9B69-AF3E-31052BB906B0}"/>
              </a:ext>
            </a:extLst>
          </p:cNvPr>
          <p:cNvSpPr>
            <a:spLocks noGrp="1"/>
          </p:cNvSpPr>
          <p:nvPr>
            <p:ph type="title"/>
          </p:nvPr>
        </p:nvSpPr>
        <p:spPr/>
        <p:txBody>
          <a:bodyPr/>
          <a:lstStyle/>
          <a:p>
            <a:r>
              <a:rPr lang="en-US" b="1" noProof="0" dirty="0"/>
              <a:t>Pixel size:</a:t>
            </a:r>
            <a:endParaRPr lang="en-US" noProof="0" dirty="0"/>
          </a:p>
        </p:txBody>
      </p:sp>
      <p:sp>
        <p:nvSpPr>
          <p:cNvPr id="3" name="Content Placeholder 2">
            <a:extLst>
              <a:ext uri="{FF2B5EF4-FFF2-40B4-BE49-F238E27FC236}">
                <a16:creationId xmlns:a16="http://schemas.microsoft.com/office/drawing/2014/main" id="{9033EAF8-4956-9DF1-A934-B90621E4EFC4}"/>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t>Basically, the quality of the input image. Changes the sample size of the cell detection plugin. </a:t>
            </a:r>
          </a:p>
          <a:p>
            <a:pPr marL="0" indent="0">
              <a:buNone/>
            </a:pPr>
            <a:endParaRPr lang="en-US" sz="1800" noProof="0" dirty="0"/>
          </a:p>
          <a:p>
            <a:pPr marL="0" indent="0">
              <a:buNone/>
            </a:pPr>
            <a:r>
              <a:rPr lang="en-US" sz="1800" noProof="0" dirty="0"/>
              <a:t>The lower the higher the quality, but the processing will need more </a:t>
            </a:r>
            <a:r>
              <a:rPr lang="en-US" sz="1800" noProof="0" dirty="0" err="1"/>
              <a:t>ressources</a:t>
            </a:r>
            <a:r>
              <a:rPr lang="en-US" sz="1800" noProof="0" dirty="0"/>
              <a:t> and time. </a:t>
            </a:r>
          </a:p>
          <a:p>
            <a:pPr marL="0" indent="0">
              <a:buNone/>
            </a:pPr>
            <a:endParaRPr lang="en-US" sz="1800" noProof="0" dirty="0"/>
          </a:p>
          <a:p>
            <a:pPr marL="0" indent="0">
              <a:buNone/>
            </a:pPr>
            <a:r>
              <a:rPr lang="en-US" sz="1800" noProof="0" dirty="0"/>
              <a:t>In my experience, it </a:t>
            </a:r>
            <a:r>
              <a:rPr lang="en-US" sz="1800" noProof="0" dirty="0" err="1"/>
              <a:t>didnt</a:t>
            </a:r>
            <a:r>
              <a:rPr lang="en-US" sz="1800" noProof="0" dirty="0"/>
              <a:t> make any significant difference regarding the cell count (0.5-1 percent), but I set it to 0.3 just to be that extra bit more sure. For faster processing times this could be set to 1.</a:t>
            </a:r>
          </a:p>
          <a:p>
            <a:endParaRPr lang="en-US" sz="1800" noProof="0" dirty="0"/>
          </a:p>
        </p:txBody>
      </p:sp>
      <p:sp>
        <p:nvSpPr>
          <p:cNvPr id="4" name="Content Placeholder 2">
            <a:extLst>
              <a:ext uri="{FF2B5EF4-FFF2-40B4-BE49-F238E27FC236}">
                <a16:creationId xmlns:a16="http://schemas.microsoft.com/office/drawing/2014/main" id="{8CBBD1F2-643C-7930-8D9A-D77B4A0ACEB6}"/>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0.3</a:t>
            </a:r>
          </a:p>
          <a:p>
            <a:endParaRPr lang="en-US" sz="1800" u="sng" noProof="0" dirty="0"/>
          </a:p>
          <a:p>
            <a:r>
              <a:rPr lang="en-US" sz="1800" u="sng" noProof="0" dirty="0"/>
              <a:t>Optimization range:</a:t>
            </a:r>
          </a:p>
          <a:p>
            <a:endParaRPr lang="en-US" sz="1800" noProof="0" dirty="0"/>
          </a:p>
          <a:p>
            <a:pPr marL="0" indent="0">
              <a:buNone/>
            </a:pPr>
            <a:r>
              <a:rPr lang="en-US" sz="1800" noProof="0" dirty="0"/>
              <a:t>0.1-1 µm in 0.1 intervals.</a:t>
            </a:r>
            <a:endParaRPr lang="en-US" sz="1200" noProof="0" dirty="0"/>
          </a:p>
        </p:txBody>
      </p:sp>
    </p:spTree>
    <p:extLst>
      <p:ext uri="{BB962C8B-B14F-4D97-AF65-F5344CB8AC3E}">
        <p14:creationId xmlns:p14="http://schemas.microsoft.com/office/powerpoint/2010/main" val="156070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5A3E2-BE9B-1280-4B7F-D58610391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D7802-9E68-6E58-CE6F-EB216011DDA8}"/>
              </a:ext>
            </a:extLst>
          </p:cNvPr>
          <p:cNvSpPr>
            <a:spLocks noGrp="1"/>
          </p:cNvSpPr>
          <p:nvPr>
            <p:ph type="title"/>
          </p:nvPr>
        </p:nvSpPr>
        <p:spPr/>
        <p:txBody>
          <a:bodyPr/>
          <a:lstStyle/>
          <a:p>
            <a:r>
              <a:rPr lang="en-US" b="1" noProof="0" dirty="0"/>
              <a:t>Background radius:</a:t>
            </a:r>
            <a:endParaRPr lang="en-US" noProof="0" dirty="0"/>
          </a:p>
        </p:txBody>
      </p:sp>
      <p:sp>
        <p:nvSpPr>
          <p:cNvPr id="3" name="Content Placeholder 2">
            <a:extLst>
              <a:ext uri="{FF2B5EF4-FFF2-40B4-BE49-F238E27FC236}">
                <a16:creationId xmlns:a16="http://schemas.microsoft.com/office/drawing/2014/main" id="{FBA925D5-A2C1-8004-F8EF-0891A1127F57}"/>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marR="0">
              <a:lnSpc>
                <a:spcPct val="150000"/>
              </a:lnSpc>
              <a:buNone/>
            </a:pPr>
            <a:r>
              <a:rPr lang="en-US" sz="1800" noProof="0" dirty="0">
                <a:latin typeface="SF Pro Display" panose="00000500000000000000" pitchFamily="50" charset="0"/>
              </a:rPr>
              <a:t>T</a:t>
            </a:r>
            <a:r>
              <a:rPr lang="en-US" sz="1800" noProof="0" dirty="0">
                <a:effectLst/>
                <a:latin typeface="SF Pro Display" panose="00000500000000000000" pitchFamily="50" charset="0"/>
              </a:rPr>
              <a:t>akes out background in relation to a circle's radius to subtract the background and keep the nuclei for the cell count. If there are clusters to be seen, a bigger number is better. I chose 30 since it worked for me the best. </a:t>
            </a:r>
          </a:p>
          <a:p>
            <a:pPr marL="0" marR="0">
              <a:buNone/>
            </a:pPr>
            <a:r>
              <a:rPr lang="en-US" sz="1800" noProof="0" dirty="0">
                <a:effectLst/>
                <a:latin typeface="SF Pro Display" panose="00000500000000000000" pitchFamily="50" charset="0"/>
              </a:rPr>
              <a:t> </a:t>
            </a:r>
          </a:p>
          <a:p>
            <a:pPr marL="0" marR="0"/>
            <a:r>
              <a:rPr lang="en-US" sz="1800" noProof="0" dirty="0">
                <a:effectLst/>
                <a:latin typeface="SF Pro Display" panose="00000500000000000000" pitchFamily="50" charset="0"/>
              </a:rPr>
              <a:t>This video helps with understanding this concept: </a:t>
            </a:r>
            <a:r>
              <a:rPr lang="en-US" sz="1800" noProof="0" dirty="0">
                <a:effectLst/>
                <a:latin typeface="SF Pro Display" panose="00000500000000000000" pitchFamily="50" charset="0"/>
                <a:hlinkClick r:id="rId2"/>
              </a:rPr>
              <a:t>7 - Thresholds and background</a:t>
            </a:r>
            <a:endParaRPr lang="en-US" sz="1800" noProof="0" dirty="0">
              <a:effectLst/>
              <a:latin typeface="SF Pro Display" panose="00000500000000000000" pitchFamily="50" charset="0"/>
            </a:endParaRPr>
          </a:p>
          <a:p>
            <a:pPr marL="0" marR="0"/>
            <a:endParaRPr lang="en-US" sz="1800" noProof="0" dirty="0">
              <a:latin typeface="SF Pro Display" panose="00000500000000000000" pitchFamily="50" charset="0"/>
            </a:endParaRPr>
          </a:p>
          <a:p>
            <a:pPr marL="0" marR="0"/>
            <a:endParaRPr lang="en-US" sz="1800" noProof="0" dirty="0">
              <a:effectLst/>
              <a:latin typeface="SF Pro Display" panose="00000500000000000000" pitchFamily="50" charset="0"/>
            </a:endParaRPr>
          </a:p>
          <a:p>
            <a:pPr marL="0" indent="0">
              <a:buNone/>
            </a:pPr>
            <a:endParaRPr lang="en-US" sz="1800" noProof="0" dirty="0"/>
          </a:p>
        </p:txBody>
      </p:sp>
      <p:sp>
        <p:nvSpPr>
          <p:cNvPr id="4" name="Content Placeholder 2">
            <a:extLst>
              <a:ext uri="{FF2B5EF4-FFF2-40B4-BE49-F238E27FC236}">
                <a16:creationId xmlns:a16="http://schemas.microsoft.com/office/drawing/2014/main" id="{E655731C-EB35-61C7-0274-CBF34F2D9E81}"/>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30</a:t>
            </a:r>
          </a:p>
          <a:p>
            <a:endParaRPr lang="en-US" sz="1800" u="sng" noProof="0" dirty="0"/>
          </a:p>
          <a:p>
            <a:r>
              <a:rPr lang="en-US" sz="1800" u="sng" noProof="0" dirty="0"/>
              <a:t>Optimization range:</a:t>
            </a:r>
          </a:p>
          <a:p>
            <a:endParaRPr lang="en-US" sz="1800" noProof="0" dirty="0"/>
          </a:p>
          <a:p>
            <a:pPr marL="0" indent="0">
              <a:buNone/>
            </a:pPr>
            <a:r>
              <a:rPr lang="en-US" sz="1800" noProof="0" dirty="0"/>
              <a:t>0 µm or 8 – 50 in 2µm intervals.</a:t>
            </a:r>
          </a:p>
          <a:p>
            <a:pPr marL="0" indent="0">
              <a:buNone/>
            </a:pPr>
            <a:endParaRPr lang="en-US" sz="1800" noProof="0" dirty="0"/>
          </a:p>
          <a:p>
            <a:pPr marL="0" indent="0">
              <a:buNone/>
            </a:pPr>
            <a:r>
              <a:rPr lang="en-US" sz="1800" noProof="0" dirty="0"/>
              <a:t>It should basically be set to the radius of the biggest cluster you have, or removed completely to adjust the parameters with the threshold. </a:t>
            </a:r>
            <a:endParaRPr lang="en-US" sz="1200" noProof="0" dirty="0"/>
          </a:p>
        </p:txBody>
      </p:sp>
    </p:spTree>
    <p:extLst>
      <p:ext uri="{BB962C8B-B14F-4D97-AF65-F5344CB8AC3E}">
        <p14:creationId xmlns:p14="http://schemas.microsoft.com/office/powerpoint/2010/main" val="4108051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E42FDB-AECC-8899-0A97-BF69259F983A}"/>
              </a:ext>
            </a:extLst>
          </p:cNvPr>
          <p:cNvPicPr>
            <a:picLocks noChangeAspect="1"/>
          </p:cNvPicPr>
          <p:nvPr/>
        </p:nvPicPr>
        <p:blipFill>
          <a:blip r:embed="rId3"/>
          <a:stretch>
            <a:fillRect/>
          </a:stretch>
        </p:blipFill>
        <p:spPr>
          <a:xfrm>
            <a:off x="48487" y="773289"/>
            <a:ext cx="6052591" cy="3798711"/>
          </a:xfrm>
          <a:prstGeom prst="rect">
            <a:avLst/>
          </a:prstGeom>
          <a:ln>
            <a:solidFill>
              <a:srgbClr val="FF0000"/>
            </a:solidFill>
          </a:ln>
        </p:spPr>
      </p:pic>
      <p:pic>
        <p:nvPicPr>
          <p:cNvPr id="7" name="Picture 6">
            <a:extLst>
              <a:ext uri="{FF2B5EF4-FFF2-40B4-BE49-F238E27FC236}">
                <a16:creationId xmlns:a16="http://schemas.microsoft.com/office/drawing/2014/main" id="{CB4FB469-71F2-DA91-AA4F-68962865A164}"/>
              </a:ext>
            </a:extLst>
          </p:cNvPr>
          <p:cNvPicPr>
            <a:picLocks noChangeAspect="1"/>
          </p:cNvPicPr>
          <p:nvPr/>
        </p:nvPicPr>
        <p:blipFill>
          <a:blip r:embed="rId4"/>
          <a:stretch>
            <a:fillRect/>
          </a:stretch>
        </p:blipFill>
        <p:spPr>
          <a:xfrm>
            <a:off x="6096000" y="773289"/>
            <a:ext cx="6100749" cy="3798710"/>
          </a:xfrm>
          <a:prstGeom prst="rect">
            <a:avLst/>
          </a:prstGeom>
          <a:ln>
            <a:solidFill>
              <a:srgbClr val="FF0000"/>
            </a:solidFill>
          </a:ln>
        </p:spPr>
      </p:pic>
      <p:sp>
        <p:nvSpPr>
          <p:cNvPr id="8" name="TextBox 7">
            <a:extLst>
              <a:ext uri="{FF2B5EF4-FFF2-40B4-BE49-F238E27FC236}">
                <a16:creationId xmlns:a16="http://schemas.microsoft.com/office/drawing/2014/main" id="{F350CC8C-4996-C588-6D5B-8846D5EAC1E7}"/>
              </a:ext>
            </a:extLst>
          </p:cNvPr>
          <p:cNvSpPr txBox="1"/>
          <p:nvPr/>
        </p:nvSpPr>
        <p:spPr>
          <a:xfrm>
            <a:off x="1653823" y="4910245"/>
            <a:ext cx="2641600" cy="1200329"/>
          </a:xfrm>
          <a:prstGeom prst="rect">
            <a:avLst/>
          </a:prstGeom>
          <a:noFill/>
        </p:spPr>
        <p:txBody>
          <a:bodyPr wrap="square" rtlCol="0">
            <a:spAutoFit/>
          </a:bodyPr>
          <a:lstStyle/>
          <a:p>
            <a:r>
              <a:rPr lang="en-US" noProof="0" dirty="0"/>
              <a:t>Original image</a:t>
            </a:r>
          </a:p>
          <a:p>
            <a:endParaRPr lang="en-US" noProof="0" dirty="0"/>
          </a:p>
          <a:p>
            <a:r>
              <a:rPr lang="en-US" noProof="0" dirty="0"/>
              <a:t>Has both nuclei and background</a:t>
            </a:r>
          </a:p>
        </p:txBody>
      </p:sp>
      <p:sp>
        <p:nvSpPr>
          <p:cNvPr id="9" name="TextBox 8">
            <a:extLst>
              <a:ext uri="{FF2B5EF4-FFF2-40B4-BE49-F238E27FC236}">
                <a16:creationId xmlns:a16="http://schemas.microsoft.com/office/drawing/2014/main" id="{17AD3EE7-AFDC-AA43-4F95-FBDB77ED2A01}"/>
              </a:ext>
            </a:extLst>
          </p:cNvPr>
          <p:cNvSpPr txBox="1"/>
          <p:nvPr/>
        </p:nvSpPr>
        <p:spPr>
          <a:xfrm>
            <a:off x="7693379" y="4910245"/>
            <a:ext cx="3787422" cy="1477328"/>
          </a:xfrm>
          <a:prstGeom prst="rect">
            <a:avLst/>
          </a:prstGeom>
          <a:noFill/>
        </p:spPr>
        <p:txBody>
          <a:bodyPr wrap="square" rtlCol="0">
            <a:spAutoFit/>
          </a:bodyPr>
          <a:lstStyle/>
          <a:p>
            <a:r>
              <a:rPr lang="en-US" noProof="0" dirty="0"/>
              <a:t>Background radius: 10</a:t>
            </a:r>
          </a:p>
          <a:p>
            <a:endParaRPr lang="en-US" noProof="0" dirty="0"/>
          </a:p>
          <a:p>
            <a:endParaRPr lang="en-US" noProof="0" dirty="0"/>
          </a:p>
          <a:p>
            <a:r>
              <a:rPr lang="en-US" noProof="0" dirty="0"/>
              <a:t>Has only left the background to be subtracted, nuclei are not there</a:t>
            </a:r>
          </a:p>
        </p:txBody>
      </p:sp>
    </p:spTree>
    <p:extLst>
      <p:ext uri="{BB962C8B-B14F-4D97-AF65-F5344CB8AC3E}">
        <p14:creationId xmlns:p14="http://schemas.microsoft.com/office/powerpoint/2010/main" val="2055701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56FC-538B-9178-294D-A6D215781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072FC-1F11-B032-3A16-79B6D9EA95D9}"/>
              </a:ext>
            </a:extLst>
          </p:cNvPr>
          <p:cNvSpPr>
            <a:spLocks noGrp="1"/>
          </p:cNvSpPr>
          <p:nvPr>
            <p:ph type="title"/>
          </p:nvPr>
        </p:nvSpPr>
        <p:spPr/>
        <p:txBody>
          <a:bodyPr/>
          <a:lstStyle/>
          <a:p>
            <a:r>
              <a:rPr lang="en-US" b="1" noProof="0" dirty="0"/>
              <a:t>Median Filter:</a:t>
            </a:r>
            <a:endParaRPr lang="en-US" noProof="0" dirty="0"/>
          </a:p>
        </p:txBody>
      </p:sp>
      <p:sp>
        <p:nvSpPr>
          <p:cNvPr id="3" name="Content Placeholder 2">
            <a:extLst>
              <a:ext uri="{FF2B5EF4-FFF2-40B4-BE49-F238E27FC236}">
                <a16:creationId xmlns:a16="http://schemas.microsoft.com/office/drawing/2014/main" id="{A6A3E6B2-4C5B-2C71-3ADB-51ADDD9FA3A4}"/>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effectLst/>
                <a:latin typeface="SF Pro Display" panose="00000500000000000000" pitchFamily="50" charset="0"/>
              </a:rPr>
              <a:t>Removes noise by applying a simple median function, leading to smoothing. Takes the median of a pixel's neighboring pixels and sets it as the new pixel value.</a:t>
            </a:r>
          </a:p>
          <a:p>
            <a:pPr marL="0" indent="0">
              <a:buNone/>
            </a:pPr>
            <a:endParaRPr lang="en-US" sz="1800" noProof="0" dirty="0">
              <a:latin typeface="SF Pro Display" panose="00000500000000000000" pitchFamily="50" charset="0"/>
            </a:endParaRPr>
          </a:p>
          <a:p>
            <a:pPr marL="0" indent="0">
              <a:buNone/>
            </a:pPr>
            <a:endParaRPr lang="en-US" sz="1800" noProof="0" dirty="0"/>
          </a:p>
        </p:txBody>
      </p:sp>
      <p:sp>
        <p:nvSpPr>
          <p:cNvPr id="5" name="Content Placeholder 2">
            <a:extLst>
              <a:ext uri="{FF2B5EF4-FFF2-40B4-BE49-F238E27FC236}">
                <a16:creationId xmlns:a16="http://schemas.microsoft.com/office/drawing/2014/main" id="{34CC667B-26ED-62B2-0E6E-46E9C289FB36}"/>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1</a:t>
            </a:r>
          </a:p>
          <a:p>
            <a:endParaRPr lang="en-US" sz="1800" u="sng" noProof="0" dirty="0"/>
          </a:p>
          <a:p>
            <a:r>
              <a:rPr lang="en-US" sz="1800" u="sng" noProof="0" dirty="0"/>
              <a:t>Optimization range:</a:t>
            </a:r>
          </a:p>
          <a:p>
            <a:endParaRPr lang="en-US" sz="1800" noProof="0" dirty="0"/>
          </a:p>
          <a:p>
            <a:pPr marL="0" indent="0">
              <a:buNone/>
            </a:pPr>
            <a:r>
              <a:rPr lang="en-US" sz="1800" noProof="0" dirty="0"/>
              <a:t>0 µm </a:t>
            </a:r>
            <a:r>
              <a:rPr lang="en-US" sz="1800" i="1" noProof="0" dirty="0"/>
              <a:t>or</a:t>
            </a:r>
            <a:r>
              <a:rPr lang="en-US" sz="1800" noProof="0" dirty="0"/>
              <a:t> 1 – 1.5 in 0.1 µm intervals.</a:t>
            </a:r>
            <a:endParaRPr lang="en-US" sz="1200" noProof="0" dirty="0"/>
          </a:p>
        </p:txBody>
      </p:sp>
      <p:pic>
        <p:nvPicPr>
          <p:cNvPr id="2050" name="Picture 2" descr="Median Filtering - Computer Vision Website Header">
            <a:extLst>
              <a:ext uri="{FF2B5EF4-FFF2-40B4-BE49-F238E27FC236}">
                <a16:creationId xmlns:a16="http://schemas.microsoft.com/office/drawing/2014/main" id="{CE362655-BCFD-B603-382C-CA63E3E46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817" y="3557587"/>
            <a:ext cx="481965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02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BA5FB-316A-79AD-3A17-4AD4FDD2DF4C}"/>
              </a:ext>
            </a:extLst>
          </p:cNvPr>
          <p:cNvSpPr>
            <a:spLocks noGrp="1"/>
          </p:cNvSpPr>
          <p:nvPr>
            <p:ph type="title"/>
          </p:nvPr>
        </p:nvSpPr>
        <p:spPr/>
        <p:txBody>
          <a:bodyPr/>
          <a:lstStyle/>
          <a:p>
            <a:r>
              <a:rPr lang="en-US" b="1" noProof="0" dirty="0"/>
              <a:t>Sigma</a:t>
            </a:r>
          </a:p>
        </p:txBody>
      </p:sp>
      <p:sp>
        <p:nvSpPr>
          <p:cNvPr id="4" name="Content Placeholder 2">
            <a:extLst>
              <a:ext uri="{FF2B5EF4-FFF2-40B4-BE49-F238E27FC236}">
                <a16:creationId xmlns:a16="http://schemas.microsoft.com/office/drawing/2014/main" id="{B4E1D79F-70A2-32B9-4C57-250E06EA96E0}"/>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1.2</a:t>
            </a:r>
          </a:p>
          <a:p>
            <a:endParaRPr lang="en-US" sz="1800" u="sng" noProof="0" dirty="0"/>
          </a:p>
          <a:p>
            <a:r>
              <a:rPr lang="en-US" sz="1800" u="sng" noProof="0" dirty="0"/>
              <a:t>Optimization range:</a:t>
            </a:r>
          </a:p>
          <a:p>
            <a:endParaRPr lang="en-US" sz="1800" noProof="0" dirty="0"/>
          </a:p>
          <a:p>
            <a:pPr marL="0" indent="0">
              <a:buNone/>
            </a:pPr>
            <a:r>
              <a:rPr lang="en-US" sz="1800" noProof="0" dirty="0"/>
              <a:t>0.5– 1.5 in 0.1µm intervals.</a:t>
            </a:r>
            <a:endParaRPr lang="en-US" sz="1200" noProof="0" dirty="0"/>
          </a:p>
        </p:txBody>
      </p:sp>
      <p:sp>
        <p:nvSpPr>
          <p:cNvPr id="5" name="Content Placeholder 2">
            <a:extLst>
              <a:ext uri="{FF2B5EF4-FFF2-40B4-BE49-F238E27FC236}">
                <a16:creationId xmlns:a16="http://schemas.microsoft.com/office/drawing/2014/main" id="{BCCB2858-28AC-9F06-506E-93FE198F2D96}"/>
              </a:ext>
            </a:extLst>
          </p:cNvPr>
          <p:cNvSpPr>
            <a:spLocks noGrp="1"/>
          </p:cNvSpPr>
          <p:nvPr>
            <p:ph idx="1"/>
          </p:nvPr>
        </p:nvSpPr>
        <p:spPr>
          <a:xfrm>
            <a:off x="838200" y="1540547"/>
            <a:ext cx="4974771" cy="4351338"/>
          </a:xfrm>
        </p:spPr>
        <p:txBody>
          <a:bodyPr>
            <a:normAutofit/>
          </a:bodyPr>
          <a:lstStyle/>
          <a:p>
            <a:r>
              <a:rPr lang="en-US" sz="1800" u="sng" noProof="0" dirty="0"/>
              <a:t>Desc:</a:t>
            </a:r>
            <a:endParaRPr lang="en-US" sz="1800" noProof="0" dirty="0"/>
          </a:p>
          <a:p>
            <a:pPr marL="0" indent="0">
              <a:buNone/>
            </a:pPr>
            <a:r>
              <a:rPr lang="en-US" sz="1800" noProof="0" dirty="0">
                <a:effectLst/>
                <a:latin typeface="SF Pro Display" panose="00000500000000000000" pitchFamily="50" charset="0"/>
              </a:rPr>
              <a:t>Removes noise by applying a gaussian normal distribution function, leading to smoothing.</a:t>
            </a:r>
            <a:endParaRPr lang="en-US" sz="1800" noProof="0" dirty="0"/>
          </a:p>
        </p:txBody>
      </p:sp>
      <p:pic>
        <p:nvPicPr>
          <p:cNvPr id="1026" name="Picture 2" descr="Understanding Gaussian Blur Filters | Medium">
            <a:extLst>
              <a:ext uri="{FF2B5EF4-FFF2-40B4-BE49-F238E27FC236}">
                <a16:creationId xmlns:a16="http://schemas.microsoft.com/office/drawing/2014/main" id="{FB941245-AF17-53DD-A51C-314219DB8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0891" y="3866357"/>
            <a:ext cx="3803615" cy="27847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V] 2. Image Processing Basic: Gaussian and Median Filter, Separable 2D  filter | by Awaits | Learning | Medium">
            <a:extLst>
              <a:ext uri="{FF2B5EF4-FFF2-40B4-BE49-F238E27FC236}">
                <a16:creationId xmlns:a16="http://schemas.microsoft.com/office/drawing/2014/main" id="{046810A4-9072-7C7F-EA37-8CA6B439D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547" y="3429000"/>
            <a:ext cx="6037612" cy="2626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655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BFF4-9A3E-9975-AFD3-4E9915D6D7D6}"/>
              </a:ext>
            </a:extLst>
          </p:cNvPr>
          <p:cNvSpPr>
            <a:spLocks noGrp="1"/>
          </p:cNvSpPr>
          <p:nvPr>
            <p:ph type="title"/>
          </p:nvPr>
        </p:nvSpPr>
        <p:spPr/>
        <p:txBody>
          <a:bodyPr/>
          <a:lstStyle/>
          <a:p>
            <a:r>
              <a:rPr lang="en-US" noProof="0" dirty="0"/>
              <a:t>Note: Smoothing filters (Median/Gaussian)</a:t>
            </a:r>
          </a:p>
        </p:txBody>
      </p:sp>
      <p:sp>
        <p:nvSpPr>
          <p:cNvPr id="3" name="Content Placeholder 2">
            <a:extLst>
              <a:ext uri="{FF2B5EF4-FFF2-40B4-BE49-F238E27FC236}">
                <a16:creationId xmlns:a16="http://schemas.microsoft.com/office/drawing/2014/main" id="{4532C365-5BDC-FD8C-EB38-4D1E1B3C1DC1}"/>
              </a:ext>
            </a:extLst>
          </p:cNvPr>
          <p:cNvSpPr>
            <a:spLocks noGrp="1"/>
          </p:cNvSpPr>
          <p:nvPr>
            <p:ph idx="1"/>
          </p:nvPr>
        </p:nvSpPr>
        <p:spPr/>
        <p:txBody>
          <a:bodyPr/>
          <a:lstStyle/>
          <a:p>
            <a:r>
              <a:rPr lang="en-US" noProof="0" dirty="0"/>
              <a:t>They are </a:t>
            </a:r>
            <a:r>
              <a:rPr lang="en-US" noProof="0" dirty="0" err="1"/>
              <a:t>kinda</a:t>
            </a:r>
            <a:r>
              <a:rPr lang="en-US" noProof="0" dirty="0"/>
              <a:t> the same, </a:t>
            </a:r>
            <a:r>
              <a:rPr lang="en-US" noProof="0" dirty="0" err="1"/>
              <a:t>dont</a:t>
            </a:r>
            <a:r>
              <a:rPr lang="en-US" noProof="0" dirty="0"/>
              <a:t> get confused</a:t>
            </a:r>
          </a:p>
          <a:p>
            <a:r>
              <a:rPr lang="en-US" noProof="0" dirty="0"/>
              <a:t>Same purpose, different methods</a:t>
            </a:r>
          </a:p>
        </p:txBody>
      </p:sp>
    </p:spTree>
    <p:extLst>
      <p:ext uri="{BB962C8B-B14F-4D97-AF65-F5344CB8AC3E}">
        <p14:creationId xmlns:p14="http://schemas.microsoft.com/office/powerpoint/2010/main" val="132691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A9E846A-0FE8-B979-21FB-934B506B5B7B}"/>
              </a:ext>
            </a:extLst>
          </p:cNvPr>
          <p:cNvGrpSpPr/>
          <p:nvPr/>
        </p:nvGrpSpPr>
        <p:grpSpPr>
          <a:xfrm>
            <a:off x="1006820" y="127227"/>
            <a:ext cx="10069393" cy="6730773"/>
            <a:chOff x="1006820" y="127227"/>
            <a:chExt cx="10069393" cy="6730773"/>
          </a:xfrm>
        </p:grpSpPr>
        <p:pic>
          <p:nvPicPr>
            <p:cNvPr id="3074" name="Picture 2" descr="Smoothing and Blurring | Computer Vision">
              <a:extLst>
                <a:ext uri="{FF2B5EF4-FFF2-40B4-BE49-F238E27FC236}">
                  <a16:creationId xmlns:a16="http://schemas.microsoft.com/office/drawing/2014/main" id="{3CFE88D1-1676-936E-BDE6-47983BE88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7" y="127227"/>
              <a:ext cx="9039225" cy="33813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filtering — Image analysis in Python">
              <a:extLst>
                <a:ext uri="{FF2B5EF4-FFF2-40B4-BE49-F238E27FC236}">
                  <a16:creationId xmlns:a16="http://schemas.microsoft.com/office/drawing/2014/main" id="{5C3AFA1F-8FA6-7610-0EF6-9E721B424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820" y="3476624"/>
              <a:ext cx="10069393" cy="33813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2AD39AA-89A4-A6B9-8AF3-97C4FFFA4FDD}"/>
                </a:ext>
              </a:extLst>
            </p:cNvPr>
            <p:cNvSpPr/>
            <p:nvPr/>
          </p:nvSpPr>
          <p:spPr>
            <a:xfrm>
              <a:off x="1311729" y="2977243"/>
              <a:ext cx="9530442"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6" name="TextBox 5">
            <a:extLst>
              <a:ext uri="{FF2B5EF4-FFF2-40B4-BE49-F238E27FC236}">
                <a16:creationId xmlns:a16="http://schemas.microsoft.com/office/drawing/2014/main" id="{03945D31-B274-0C15-8C41-6B66BA08A331}"/>
              </a:ext>
            </a:extLst>
          </p:cNvPr>
          <p:cNvSpPr txBox="1"/>
          <p:nvPr/>
        </p:nvSpPr>
        <p:spPr>
          <a:xfrm>
            <a:off x="2370365" y="3093583"/>
            <a:ext cx="2073728" cy="369332"/>
          </a:xfrm>
          <a:prstGeom prst="rect">
            <a:avLst/>
          </a:prstGeom>
          <a:noFill/>
        </p:spPr>
        <p:txBody>
          <a:bodyPr wrap="square" rtlCol="0">
            <a:spAutoFit/>
          </a:bodyPr>
          <a:lstStyle/>
          <a:p>
            <a:r>
              <a:rPr lang="en-US" noProof="0" dirty="0"/>
              <a:t>Original</a:t>
            </a:r>
          </a:p>
        </p:txBody>
      </p:sp>
      <p:sp>
        <p:nvSpPr>
          <p:cNvPr id="7" name="TextBox 6">
            <a:extLst>
              <a:ext uri="{FF2B5EF4-FFF2-40B4-BE49-F238E27FC236}">
                <a16:creationId xmlns:a16="http://schemas.microsoft.com/office/drawing/2014/main" id="{A7A0365D-C5A9-CBEB-DCE9-5950FCD2A05E}"/>
              </a:ext>
            </a:extLst>
          </p:cNvPr>
          <p:cNvSpPr txBox="1"/>
          <p:nvPr/>
        </p:nvSpPr>
        <p:spPr>
          <a:xfrm>
            <a:off x="5279572" y="3151617"/>
            <a:ext cx="2073728" cy="369332"/>
          </a:xfrm>
          <a:prstGeom prst="rect">
            <a:avLst/>
          </a:prstGeom>
          <a:noFill/>
        </p:spPr>
        <p:txBody>
          <a:bodyPr wrap="square" rtlCol="0">
            <a:spAutoFit/>
          </a:bodyPr>
          <a:lstStyle/>
          <a:p>
            <a:r>
              <a:rPr lang="en-US" noProof="0" dirty="0"/>
              <a:t>Gaussian (sigma)</a:t>
            </a:r>
          </a:p>
        </p:txBody>
      </p:sp>
      <p:sp>
        <p:nvSpPr>
          <p:cNvPr id="8" name="TextBox 7">
            <a:extLst>
              <a:ext uri="{FF2B5EF4-FFF2-40B4-BE49-F238E27FC236}">
                <a16:creationId xmlns:a16="http://schemas.microsoft.com/office/drawing/2014/main" id="{C66F0605-1209-D08F-C5CE-A39C8AE0E3B9}"/>
              </a:ext>
            </a:extLst>
          </p:cNvPr>
          <p:cNvSpPr txBox="1"/>
          <p:nvPr/>
        </p:nvSpPr>
        <p:spPr>
          <a:xfrm>
            <a:off x="9002485" y="3093583"/>
            <a:ext cx="2073728" cy="369332"/>
          </a:xfrm>
          <a:prstGeom prst="rect">
            <a:avLst/>
          </a:prstGeom>
          <a:noFill/>
        </p:spPr>
        <p:txBody>
          <a:bodyPr wrap="square" rtlCol="0">
            <a:spAutoFit/>
          </a:bodyPr>
          <a:lstStyle/>
          <a:p>
            <a:r>
              <a:rPr lang="en-US" noProof="0" dirty="0"/>
              <a:t>Median</a:t>
            </a:r>
          </a:p>
        </p:txBody>
      </p:sp>
    </p:spTree>
    <p:extLst>
      <p:ext uri="{BB962C8B-B14F-4D97-AF65-F5344CB8AC3E}">
        <p14:creationId xmlns:p14="http://schemas.microsoft.com/office/powerpoint/2010/main" val="2152356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FFA4D-E2E2-7EBC-4DEF-288915FE1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ACD6C-7771-B3BB-BF51-DA2B67DDF484}"/>
              </a:ext>
            </a:extLst>
          </p:cNvPr>
          <p:cNvSpPr>
            <a:spLocks noGrp="1"/>
          </p:cNvSpPr>
          <p:nvPr>
            <p:ph type="title"/>
          </p:nvPr>
        </p:nvSpPr>
        <p:spPr/>
        <p:txBody>
          <a:bodyPr/>
          <a:lstStyle/>
          <a:p>
            <a:r>
              <a:rPr lang="en-US" b="1" noProof="0" dirty="0"/>
              <a:t>Min Area</a:t>
            </a:r>
          </a:p>
        </p:txBody>
      </p:sp>
      <p:sp>
        <p:nvSpPr>
          <p:cNvPr id="4" name="Content Placeholder 2">
            <a:extLst>
              <a:ext uri="{FF2B5EF4-FFF2-40B4-BE49-F238E27FC236}">
                <a16:creationId xmlns:a16="http://schemas.microsoft.com/office/drawing/2014/main" id="{85A145A8-AD29-9CDE-29B9-6E5666E0D53D}"/>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8</a:t>
            </a:r>
          </a:p>
          <a:p>
            <a:endParaRPr lang="en-US" sz="1800" u="sng" noProof="0" dirty="0"/>
          </a:p>
          <a:p>
            <a:r>
              <a:rPr lang="en-US" sz="1800" u="sng" noProof="0" dirty="0"/>
              <a:t>Optimization range:</a:t>
            </a:r>
          </a:p>
          <a:p>
            <a:endParaRPr lang="en-US" sz="1800" noProof="0" dirty="0"/>
          </a:p>
          <a:p>
            <a:pPr marL="0" indent="0">
              <a:buNone/>
            </a:pPr>
            <a:r>
              <a:rPr lang="en-US" sz="1800" noProof="0" dirty="0"/>
              <a:t>0 µm or 8 – 50 in 5µm intervals.</a:t>
            </a:r>
            <a:endParaRPr lang="en-US" sz="1200" noProof="0" dirty="0"/>
          </a:p>
        </p:txBody>
      </p:sp>
      <p:sp>
        <p:nvSpPr>
          <p:cNvPr id="5" name="Content Placeholder 2">
            <a:extLst>
              <a:ext uri="{FF2B5EF4-FFF2-40B4-BE49-F238E27FC236}">
                <a16:creationId xmlns:a16="http://schemas.microsoft.com/office/drawing/2014/main" id="{6913E75A-9722-28CF-D98B-D68F5C811A0A}"/>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t>Usually sufficient for most images and doesn’t need change. If small cells aren’t detected this value can be reduced and if small artifacts are detected it can be increased.</a:t>
            </a:r>
          </a:p>
        </p:txBody>
      </p:sp>
    </p:spTree>
    <p:extLst>
      <p:ext uri="{BB962C8B-B14F-4D97-AF65-F5344CB8AC3E}">
        <p14:creationId xmlns:p14="http://schemas.microsoft.com/office/powerpoint/2010/main" val="252511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C4C84-BF7C-113B-560C-4942BEFEC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349C9-B367-7E19-7B3A-7AAC7EBDBA0F}"/>
              </a:ext>
            </a:extLst>
          </p:cNvPr>
          <p:cNvSpPr>
            <a:spLocks noGrp="1"/>
          </p:cNvSpPr>
          <p:nvPr>
            <p:ph type="title"/>
          </p:nvPr>
        </p:nvSpPr>
        <p:spPr/>
        <p:txBody>
          <a:bodyPr/>
          <a:lstStyle/>
          <a:p>
            <a:r>
              <a:rPr lang="en-US" b="1" noProof="0" dirty="0"/>
              <a:t>Max Area</a:t>
            </a:r>
          </a:p>
        </p:txBody>
      </p:sp>
      <p:sp>
        <p:nvSpPr>
          <p:cNvPr id="4" name="Content Placeholder 2">
            <a:extLst>
              <a:ext uri="{FF2B5EF4-FFF2-40B4-BE49-F238E27FC236}">
                <a16:creationId xmlns:a16="http://schemas.microsoft.com/office/drawing/2014/main" id="{29168F00-1B60-C3E3-F18D-7FD8D8D58137}"/>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50</a:t>
            </a:r>
          </a:p>
          <a:p>
            <a:endParaRPr lang="en-US" sz="1800" u="sng" noProof="0" dirty="0"/>
          </a:p>
          <a:p>
            <a:r>
              <a:rPr lang="en-US" sz="1800" u="sng" noProof="0" dirty="0"/>
              <a:t>Optimization range:</a:t>
            </a:r>
          </a:p>
          <a:p>
            <a:endParaRPr lang="en-US" sz="1800" noProof="0" dirty="0"/>
          </a:p>
          <a:p>
            <a:pPr marL="0" indent="0">
              <a:buNone/>
            </a:pPr>
            <a:r>
              <a:rPr lang="en-US" sz="1800" noProof="0" dirty="0"/>
              <a:t>0 µm or 8 – 80 in 5µm intervals.</a:t>
            </a:r>
            <a:endParaRPr lang="en-US" sz="1200" noProof="0" dirty="0"/>
          </a:p>
        </p:txBody>
      </p:sp>
      <p:sp>
        <p:nvSpPr>
          <p:cNvPr id="5" name="Content Placeholder 2">
            <a:extLst>
              <a:ext uri="{FF2B5EF4-FFF2-40B4-BE49-F238E27FC236}">
                <a16:creationId xmlns:a16="http://schemas.microsoft.com/office/drawing/2014/main" id="{E064790D-9990-F5D9-D6F9-4A47FF9F33B1}"/>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dirty="0"/>
              <a:t>Sets a limit for the max size of one cell.</a:t>
            </a:r>
          </a:p>
          <a:p>
            <a:pPr marL="0" indent="0">
              <a:buNone/>
            </a:pPr>
            <a:r>
              <a:rPr lang="en-US" sz="1800" dirty="0"/>
              <a:t> when cells are bigger, increase amount</a:t>
            </a:r>
            <a:endParaRPr lang="en-US" sz="1800" noProof="0" dirty="0"/>
          </a:p>
          <a:p>
            <a:endParaRPr lang="en-US" sz="1800" noProof="0" dirty="0"/>
          </a:p>
        </p:txBody>
      </p:sp>
    </p:spTree>
    <p:extLst>
      <p:ext uri="{BB962C8B-B14F-4D97-AF65-F5344CB8AC3E}">
        <p14:creationId xmlns:p14="http://schemas.microsoft.com/office/powerpoint/2010/main" val="376994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EEDF2-FDC4-54DA-7513-86C8ADC37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C9083-2716-7D2F-5C91-2EC382B95EE3}"/>
              </a:ext>
            </a:extLst>
          </p:cNvPr>
          <p:cNvSpPr>
            <a:spLocks noGrp="1"/>
          </p:cNvSpPr>
          <p:nvPr>
            <p:ph type="title"/>
          </p:nvPr>
        </p:nvSpPr>
        <p:spPr>
          <a:xfrm>
            <a:off x="747889" y="365125"/>
            <a:ext cx="10515600" cy="1325563"/>
          </a:xfrm>
        </p:spPr>
        <p:txBody>
          <a:bodyPr/>
          <a:lstStyle/>
          <a:p>
            <a:r>
              <a:rPr lang="en-US" b="1" noProof="0" dirty="0"/>
              <a:t>Threshold</a:t>
            </a:r>
          </a:p>
        </p:txBody>
      </p:sp>
      <p:sp>
        <p:nvSpPr>
          <p:cNvPr id="4" name="Content Placeholder 2">
            <a:extLst>
              <a:ext uri="{FF2B5EF4-FFF2-40B4-BE49-F238E27FC236}">
                <a16:creationId xmlns:a16="http://schemas.microsoft.com/office/drawing/2014/main" id="{139A5AC9-0B1F-A1C8-6123-D02BFBF4B712}"/>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variable</a:t>
            </a:r>
          </a:p>
          <a:p>
            <a:pPr marL="0" indent="0">
              <a:buNone/>
            </a:pPr>
            <a:r>
              <a:rPr lang="en-US" sz="1800" u="sng" dirty="0"/>
              <a:t> (Depends heavily on staining vectors and the brightness/contrast of the image)</a:t>
            </a:r>
            <a:r>
              <a:rPr lang="en-US" sz="1800" u="sng" noProof="0" dirty="0"/>
              <a:t> </a:t>
            </a:r>
          </a:p>
          <a:p>
            <a:endParaRPr lang="en-US" sz="1800" u="sng" noProof="0" dirty="0"/>
          </a:p>
          <a:p>
            <a:r>
              <a:rPr lang="en-US" sz="1800" u="sng" noProof="0" dirty="0"/>
              <a:t>Optimization range:</a:t>
            </a:r>
          </a:p>
          <a:p>
            <a:pPr marL="0" indent="0">
              <a:buNone/>
            </a:pPr>
            <a:r>
              <a:rPr lang="en-US" sz="1800" noProof="0" dirty="0"/>
              <a:t> 0.05 - 5</a:t>
            </a:r>
          </a:p>
        </p:txBody>
      </p:sp>
      <p:sp>
        <p:nvSpPr>
          <p:cNvPr id="5" name="Content Placeholder 2">
            <a:extLst>
              <a:ext uri="{FF2B5EF4-FFF2-40B4-BE49-F238E27FC236}">
                <a16:creationId xmlns:a16="http://schemas.microsoft.com/office/drawing/2014/main" id="{256ADF2D-0616-1F9E-C51C-03BB857D2208}"/>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t>min OD </a:t>
            </a:r>
            <a:r>
              <a:rPr lang="en-US" sz="1800" noProof="0" dirty="0" err="1"/>
              <a:t>Haematoxylin</a:t>
            </a:r>
            <a:r>
              <a:rPr lang="en-US" sz="1800" noProof="0" dirty="0"/>
              <a:t>.</a:t>
            </a:r>
          </a:p>
          <a:p>
            <a:endParaRPr lang="en-US" sz="1800" noProof="0" dirty="0"/>
          </a:p>
        </p:txBody>
      </p:sp>
    </p:spTree>
    <p:extLst>
      <p:ext uri="{BB962C8B-B14F-4D97-AF65-F5344CB8AC3E}">
        <p14:creationId xmlns:p14="http://schemas.microsoft.com/office/powerpoint/2010/main" val="3901132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65099-04D1-47E7-A5FC-B7CB69A5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B7C0A-A4F8-F795-3305-34D6688CFF2B}"/>
              </a:ext>
            </a:extLst>
          </p:cNvPr>
          <p:cNvSpPr>
            <a:spLocks noGrp="1"/>
          </p:cNvSpPr>
          <p:nvPr>
            <p:ph type="title"/>
          </p:nvPr>
        </p:nvSpPr>
        <p:spPr/>
        <p:txBody>
          <a:bodyPr/>
          <a:lstStyle/>
          <a:p>
            <a:r>
              <a:rPr lang="en-US" b="1" noProof="0" dirty="0"/>
              <a:t>Cell expansion</a:t>
            </a:r>
          </a:p>
        </p:txBody>
      </p:sp>
      <p:sp>
        <p:nvSpPr>
          <p:cNvPr id="4" name="Content Placeholder 2">
            <a:extLst>
              <a:ext uri="{FF2B5EF4-FFF2-40B4-BE49-F238E27FC236}">
                <a16:creationId xmlns:a16="http://schemas.microsoft.com/office/drawing/2014/main" id="{E5E21641-DACE-79D9-ED9B-159052C032A3}"/>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8</a:t>
            </a:r>
          </a:p>
          <a:p>
            <a:endParaRPr lang="en-US" sz="1800" u="sng" noProof="0" dirty="0"/>
          </a:p>
          <a:p>
            <a:r>
              <a:rPr lang="en-US" sz="1800" u="sng" noProof="0" dirty="0"/>
              <a:t>Optimization range:</a:t>
            </a:r>
          </a:p>
          <a:p>
            <a:endParaRPr lang="en-US" sz="1800" noProof="0" dirty="0"/>
          </a:p>
          <a:p>
            <a:pPr marL="0" indent="0">
              <a:buNone/>
            </a:pPr>
            <a:r>
              <a:rPr lang="en-US" sz="1800" noProof="0" dirty="0"/>
              <a:t>2-10 in 1 µm intervals.</a:t>
            </a:r>
            <a:endParaRPr lang="en-US" sz="1200" noProof="0" dirty="0"/>
          </a:p>
        </p:txBody>
      </p:sp>
      <p:sp>
        <p:nvSpPr>
          <p:cNvPr id="5" name="Content Placeholder 2">
            <a:extLst>
              <a:ext uri="{FF2B5EF4-FFF2-40B4-BE49-F238E27FC236}">
                <a16:creationId xmlns:a16="http://schemas.microsoft.com/office/drawing/2014/main" id="{351A4969-CD7A-EBE5-F0C9-EC18B32D85FF}"/>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t>How big the cells are</a:t>
            </a:r>
          </a:p>
          <a:p>
            <a:endParaRPr lang="en-US" sz="1800" noProof="0" dirty="0"/>
          </a:p>
        </p:txBody>
      </p:sp>
    </p:spTree>
    <p:extLst>
      <p:ext uri="{BB962C8B-B14F-4D97-AF65-F5344CB8AC3E}">
        <p14:creationId xmlns:p14="http://schemas.microsoft.com/office/powerpoint/2010/main" val="2573715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F28BE-AB77-9272-3286-67210BAEE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BF51A-F6C5-BAA9-7413-0F9F9F461CFB}"/>
              </a:ext>
            </a:extLst>
          </p:cNvPr>
          <p:cNvSpPr>
            <a:spLocks noGrp="1"/>
          </p:cNvSpPr>
          <p:nvPr>
            <p:ph type="title"/>
          </p:nvPr>
        </p:nvSpPr>
        <p:spPr/>
        <p:txBody>
          <a:bodyPr/>
          <a:lstStyle/>
          <a:p>
            <a:r>
              <a:rPr lang="en-US" b="1" dirty="0"/>
              <a:t>subcellular detection threshold </a:t>
            </a:r>
            <a:endParaRPr lang="en-US" b="1" noProof="0" dirty="0"/>
          </a:p>
        </p:txBody>
      </p:sp>
      <p:sp>
        <p:nvSpPr>
          <p:cNvPr id="4" name="Content Placeholder 2">
            <a:extLst>
              <a:ext uri="{FF2B5EF4-FFF2-40B4-BE49-F238E27FC236}">
                <a16:creationId xmlns:a16="http://schemas.microsoft.com/office/drawing/2014/main" id="{40B67FA7-44A9-95E1-4BB4-A62CF33EE230}"/>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a:t>
            </a:r>
          </a:p>
          <a:p>
            <a:pPr marL="0" indent="0">
              <a:buNone/>
            </a:pPr>
            <a:r>
              <a:rPr lang="en-US" sz="1800" noProof="0" dirty="0"/>
              <a:t>Variable between 0.2 and 1.</a:t>
            </a:r>
            <a:r>
              <a:rPr lang="en-US" sz="1800" dirty="0"/>
              <a:t>5</a:t>
            </a:r>
            <a:endParaRPr lang="en-US" sz="1800" noProof="0" dirty="0"/>
          </a:p>
          <a:p>
            <a:endParaRPr lang="en-US" sz="1800" u="sng" noProof="0" dirty="0"/>
          </a:p>
          <a:p>
            <a:r>
              <a:rPr lang="en-US" sz="1800" u="sng" noProof="0" dirty="0"/>
              <a:t>Optimization range:</a:t>
            </a:r>
          </a:p>
          <a:p>
            <a:pPr marL="0" indent="0">
              <a:buNone/>
            </a:pPr>
            <a:r>
              <a:rPr lang="en-US" sz="1800" noProof="0" dirty="0"/>
              <a:t>Depends on the staining vectors and the signal visibility, but moving up/down in 0.1 µm should help improve results. </a:t>
            </a:r>
          </a:p>
        </p:txBody>
      </p:sp>
      <p:sp>
        <p:nvSpPr>
          <p:cNvPr id="5" name="Content Placeholder 2">
            <a:extLst>
              <a:ext uri="{FF2B5EF4-FFF2-40B4-BE49-F238E27FC236}">
                <a16:creationId xmlns:a16="http://schemas.microsoft.com/office/drawing/2014/main" id="{FB91C2A9-6E14-5D0D-7FFC-1E3FCF0FD5A8}"/>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t>OD of selected RNA/miRNA stain.</a:t>
            </a:r>
          </a:p>
          <a:p>
            <a:pPr marL="0" indent="0">
              <a:buNone/>
            </a:pPr>
            <a:endParaRPr lang="en-US" sz="1800" noProof="0" dirty="0"/>
          </a:p>
          <a:p>
            <a:pPr marL="0" indent="0">
              <a:buNone/>
            </a:pPr>
            <a:r>
              <a:rPr lang="en-US" sz="1800" noProof="0" dirty="0"/>
              <a:t>If you want to have classifications e.g. </a:t>
            </a:r>
          </a:p>
          <a:p>
            <a:pPr marL="0" indent="0">
              <a:buNone/>
            </a:pPr>
            <a:r>
              <a:rPr lang="en-US" sz="1800" noProof="0" dirty="0"/>
              <a:t>1+ : 1-4 puncta in cell nucleus</a:t>
            </a:r>
          </a:p>
          <a:p>
            <a:pPr marL="0" indent="0">
              <a:buNone/>
            </a:pPr>
            <a:r>
              <a:rPr lang="en-US" sz="1800" noProof="0" dirty="0"/>
              <a:t>2+: 4-10 </a:t>
            </a:r>
            <a:r>
              <a:rPr lang="en-US" sz="1800" dirty="0"/>
              <a:t>p</a:t>
            </a:r>
            <a:r>
              <a:rPr lang="en-US" sz="1800" noProof="0" dirty="0" err="1"/>
              <a:t>uncta</a:t>
            </a:r>
            <a:r>
              <a:rPr lang="en-US" sz="1800" noProof="0" dirty="0"/>
              <a:t> in cell nucleus</a:t>
            </a:r>
          </a:p>
          <a:p>
            <a:pPr marL="0" indent="0">
              <a:buNone/>
            </a:pPr>
            <a:r>
              <a:rPr lang="en-US" sz="1800" noProof="0" dirty="0"/>
              <a:t>3+: 10+ puncta in cell nucleus</a:t>
            </a:r>
          </a:p>
          <a:p>
            <a:pPr marL="0" indent="0">
              <a:buNone/>
            </a:pPr>
            <a:r>
              <a:rPr lang="en-US" sz="1800" noProof="0" dirty="0"/>
              <a:t>Then activate the “multi threshold” option</a:t>
            </a:r>
          </a:p>
          <a:p>
            <a:endParaRPr lang="en-US" sz="1800" noProof="0" dirty="0"/>
          </a:p>
        </p:txBody>
      </p:sp>
    </p:spTree>
    <p:extLst>
      <p:ext uri="{BB962C8B-B14F-4D97-AF65-F5344CB8AC3E}">
        <p14:creationId xmlns:p14="http://schemas.microsoft.com/office/powerpoint/2010/main" val="3034161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FAD26-4008-130F-B028-64878258C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26BB8-C712-281F-1C24-7FA4013B3E78}"/>
              </a:ext>
            </a:extLst>
          </p:cNvPr>
          <p:cNvSpPr>
            <a:spLocks noGrp="1"/>
          </p:cNvSpPr>
          <p:nvPr>
            <p:ph type="title"/>
          </p:nvPr>
        </p:nvSpPr>
        <p:spPr/>
        <p:txBody>
          <a:bodyPr/>
          <a:lstStyle/>
          <a:p>
            <a:r>
              <a:rPr lang="de-DE" b="1" dirty="0"/>
              <a:t>P</a:t>
            </a:r>
            <a:r>
              <a:rPr lang="en-US" b="1" dirty="0" err="1"/>
              <a:t>ositive</a:t>
            </a:r>
            <a:r>
              <a:rPr lang="en-US" b="1" dirty="0"/>
              <a:t> cell detection thresholds</a:t>
            </a:r>
            <a:endParaRPr lang="en-US" b="1" noProof="0" dirty="0"/>
          </a:p>
        </p:txBody>
      </p:sp>
      <p:sp>
        <p:nvSpPr>
          <p:cNvPr id="4" name="Content Placeholder 2">
            <a:extLst>
              <a:ext uri="{FF2B5EF4-FFF2-40B4-BE49-F238E27FC236}">
                <a16:creationId xmlns:a16="http://schemas.microsoft.com/office/drawing/2014/main" id="{EA940DDA-90DD-DF1D-D6FA-12982134BB08}"/>
              </a:ext>
            </a:extLst>
          </p:cNvPr>
          <p:cNvSpPr txBox="1">
            <a:spLocks/>
          </p:cNvSpPr>
          <p:nvPr/>
        </p:nvSpPr>
        <p:spPr>
          <a:xfrm>
            <a:off x="6738257" y="1690688"/>
            <a:ext cx="4974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noProof="0" dirty="0"/>
              <a:t>Best value for my images: </a:t>
            </a:r>
          </a:p>
          <a:p>
            <a:pPr marL="0" indent="0">
              <a:buNone/>
            </a:pPr>
            <a:r>
              <a:rPr lang="en-US" sz="1800" noProof="0" dirty="0"/>
              <a:t>Variable</a:t>
            </a:r>
          </a:p>
          <a:p>
            <a:endParaRPr lang="en-US" sz="1800" u="sng" noProof="0" dirty="0"/>
          </a:p>
          <a:p>
            <a:r>
              <a:rPr lang="en-US" sz="1800" u="sng" noProof="0" dirty="0"/>
              <a:t>Optimization range:</a:t>
            </a:r>
          </a:p>
          <a:p>
            <a:pPr marL="0" indent="0">
              <a:buNone/>
            </a:pPr>
            <a:r>
              <a:rPr lang="en-US" sz="1800" noProof="0" dirty="0"/>
              <a:t>Depends heavily on the staining vectors and the signal visibility, but moving up/down in 0.1 µm intervals should help improve the results.</a:t>
            </a:r>
          </a:p>
        </p:txBody>
      </p:sp>
      <p:sp>
        <p:nvSpPr>
          <p:cNvPr id="5" name="Content Placeholder 2">
            <a:extLst>
              <a:ext uri="{FF2B5EF4-FFF2-40B4-BE49-F238E27FC236}">
                <a16:creationId xmlns:a16="http://schemas.microsoft.com/office/drawing/2014/main" id="{5F94B6DA-A280-6D5B-F4F9-C60B97A1BE71}"/>
              </a:ext>
            </a:extLst>
          </p:cNvPr>
          <p:cNvSpPr>
            <a:spLocks noGrp="1"/>
          </p:cNvSpPr>
          <p:nvPr>
            <p:ph idx="1"/>
          </p:nvPr>
        </p:nvSpPr>
        <p:spPr>
          <a:xfrm>
            <a:off x="838200" y="1825625"/>
            <a:ext cx="4974771" cy="4351338"/>
          </a:xfrm>
        </p:spPr>
        <p:txBody>
          <a:bodyPr>
            <a:normAutofit/>
          </a:bodyPr>
          <a:lstStyle/>
          <a:p>
            <a:r>
              <a:rPr lang="en-US" sz="1800" u="sng" noProof="0" dirty="0"/>
              <a:t>Desc:</a:t>
            </a:r>
            <a:endParaRPr lang="en-US" sz="1800" noProof="0" dirty="0"/>
          </a:p>
          <a:p>
            <a:pPr marL="0" indent="0">
              <a:buNone/>
            </a:pPr>
            <a:r>
              <a:rPr lang="en-US" sz="1800" noProof="0" dirty="0"/>
              <a:t>The OD value of the stain </a:t>
            </a:r>
            <a:r>
              <a:rPr lang="en-US" sz="1800" dirty="0"/>
              <a:t>in </a:t>
            </a:r>
            <a:r>
              <a:rPr lang="en-US" sz="1800" noProof="0" dirty="0"/>
              <a:t>the cell nucleus.</a:t>
            </a:r>
          </a:p>
          <a:p>
            <a:pPr marL="0" indent="0">
              <a:buNone/>
            </a:pPr>
            <a:endParaRPr lang="en-US" sz="1800" noProof="0" dirty="0"/>
          </a:p>
          <a:p>
            <a:pPr marL="0" indent="0">
              <a:buNone/>
            </a:pPr>
            <a:r>
              <a:rPr lang="en-US" sz="1800" noProof="0" dirty="0"/>
              <a:t>If you want to have classifications e.g. </a:t>
            </a:r>
          </a:p>
          <a:p>
            <a:pPr marL="0" indent="0">
              <a:buNone/>
            </a:pPr>
            <a:r>
              <a:rPr lang="en-US" sz="1800" noProof="0" dirty="0"/>
              <a:t>1+ : weak signal</a:t>
            </a:r>
          </a:p>
          <a:p>
            <a:pPr marL="0" indent="0">
              <a:buNone/>
            </a:pPr>
            <a:r>
              <a:rPr lang="en-US" sz="1800" noProof="0" dirty="0"/>
              <a:t>2+: medium signal strength</a:t>
            </a:r>
          </a:p>
          <a:p>
            <a:pPr marL="0" indent="0">
              <a:buNone/>
            </a:pPr>
            <a:r>
              <a:rPr lang="en-US" sz="1800" noProof="0" dirty="0"/>
              <a:t>3+: high signal strength</a:t>
            </a:r>
          </a:p>
          <a:p>
            <a:pPr marL="0" indent="0">
              <a:buNone/>
            </a:pPr>
            <a:r>
              <a:rPr lang="en-US" sz="1800" noProof="0" dirty="0"/>
              <a:t>Then activate the “multi threshold” option</a:t>
            </a:r>
          </a:p>
          <a:p>
            <a:endParaRPr lang="en-US" sz="1800" noProof="0" dirty="0"/>
          </a:p>
        </p:txBody>
      </p:sp>
    </p:spTree>
    <p:extLst>
      <p:ext uri="{BB962C8B-B14F-4D97-AF65-F5344CB8AC3E}">
        <p14:creationId xmlns:p14="http://schemas.microsoft.com/office/powerpoint/2010/main" val="1459841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DD47-42DD-8D68-6340-2955F9BD32E8}"/>
              </a:ext>
            </a:extLst>
          </p:cNvPr>
          <p:cNvSpPr>
            <a:spLocks noGrp="1"/>
          </p:cNvSpPr>
          <p:nvPr>
            <p:ph type="title"/>
          </p:nvPr>
        </p:nvSpPr>
        <p:spPr/>
        <p:txBody>
          <a:bodyPr/>
          <a:lstStyle/>
          <a:p>
            <a:r>
              <a:rPr lang="en-US" noProof="0" dirty="0"/>
              <a:t>*Using saved images from ImageJ</a:t>
            </a:r>
          </a:p>
        </p:txBody>
      </p:sp>
      <p:sp>
        <p:nvSpPr>
          <p:cNvPr id="3" name="Content Placeholder 2">
            <a:extLst>
              <a:ext uri="{FF2B5EF4-FFF2-40B4-BE49-F238E27FC236}">
                <a16:creationId xmlns:a16="http://schemas.microsoft.com/office/drawing/2014/main" id="{26BA94DB-EAB5-AF67-3EF1-40C9B9AFEFC0}"/>
              </a:ext>
            </a:extLst>
          </p:cNvPr>
          <p:cNvSpPr>
            <a:spLocks noGrp="1"/>
          </p:cNvSpPr>
          <p:nvPr>
            <p:ph idx="1"/>
          </p:nvPr>
        </p:nvSpPr>
        <p:spPr>
          <a:xfrm>
            <a:off x="838200" y="1557328"/>
            <a:ext cx="10515600" cy="4985834"/>
          </a:xfrm>
        </p:spPr>
        <p:txBody>
          <a:bodyPr>
            <a:normAutofit/>
          </a:bodyPr>
          <a:lstStyle/>
          <a:p>
            <a:pPr marL="0" indent="0">
              <a:buNone/>
            </a:pPr>
            <a:r>
              <a:rPr lang="en-US" sz="2000" noProof="0" dirty="0"/>
              <a:t>From time to time, you will encounter images that need a little bit of color/brightness adjustment to work best with the cell counting plugin. A common way of fixing issues like this is using </a:t>
            </a:r>
            <a:r>
              <a:rPr lang="en-US" sz="2000" noProof="0" dirty="0" err="1"/>
              <a:t>imageJ</a:t>
            </a:r>
            <a:r>
              <a:rPr lang="en-US" sz="2000" noProof="0" dirty="0"/>
              <a:t> to apply these small edits and saving the images as the edited versions. A better way of doing this is using the NIS elements app, accessible through the computer in the microscopy room.</a:t>
            </a:r>
          </a:p>
          <a:p>
            <a:pPr marL="0" indent="0">
              <a:buNone/>
            </a:pPr>
            <a:endParaRPr lang="en-US" sz="2000" noProof="0" dirty="0"/>
          </a:p>
          <a:p>
            <a:pPr marL="0" indent="0">
              <a:buNone/>
            </a:pPr>
            <a:r>
              <a:rPr lang="en-US" sz="2000" noProof="0" dirty="0"/>
              <a:t>These saved images will not however keep their metadata, which contain essential parameters like µm per pixel. This then needs to be added in from the other images by hand in </a:t>
            </a:r>
            <a:r>
              <a:rPr lang="en-US" sz="2000" noProof="0" dirty="0" err="1"/>
              <a:t>QuPath</a:t>
            </a:r>
            <a:r>
              <a:rPr lang="en-US" sz="2000" noProof="0" dirty="0"/>
              <a:t> before running the cell detection plugin, otherwise the results will be invalid. This is also very much visible.</a:t>
            </a:r>
          </a:p>
          <a:p>
            <a:pPr marL="0" indent="0">
              <a:buNone/>
            </a:pPr>
            <a:endParaRPr lang="en-US" sz="2000" noProof="0" dirty="0"/>
          </a:p>
          <a:p>
            <a:pPr marL="0" indent="0">
              <a:buNone/>
            </a:pPr>
            <a:r>
              <a:rPr lang="en-US" sz="2000" noProof="0" dirty="0"/>
              <a:t>It would be preferred not to save edited images onto the original files and rather keep them as copies (duplicates). Use shift + D</a:t>
            </a:r>
          </a:p>
        </p:txBody>
      </p:sp>
    </p:spTree>
    <p:extLst>
      <p:ext uri="{BB962C8B-B14F-4D97-AF65-F5344CB8AC3E}">
        <p14:creationId xmlns:p14="http://schemas.microsoft.com/office/powerpoint/2010/main" val="1884719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F44E7-848D-F72E-E155-D4D607C94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850EF-1BEF-1E7A-AB37-AF1378C11B73}"/>
              </a:ext>
            </a:extLst>
          </p:cNvPr>
          <p:cNvSpPr>
            <a:spLocks noGrp="1"/>
          </p:cNvSpPr>
          <p:nvPr>
            <p:ph type="title"/>
          </p:nvPr>
        </p:nvSpPr>
        <p:spPr/>
        <p:txBody>
          <a:bodyPr/>
          <a:lstStyle/>
          <a:p>
            <a:r>
              <a:rPr lang="en-US" noProof="0" dirty="0"/>
              <a:t>*Using saved images from ImageJ</a:t>
            </a:r>
          </a:p>
        </p:txBody>
      </p:sp>
      <p:sp>
        <p:nvSpPr>
          <p:cNvPr id="3" name="Content Placeholder 2">
            <a:extLst>
              <a:ext uri="{FF2B5EF4-FFF2-40B4-BE49-F238E27FC236}">
                <a16:creationId xmlns:a16="http://schemas.microsoft.com/office/drawing/2014/main" id="{9F9B1C88-CB70-4A78-0B79-B3C09BD700D4}"/>
              </a:ext>
            </a:extLst>
          </p:cNvPr>
          <p:cNvSpPr>
            <a:spLocks noGrp="1"/>
          </p:cNvSpPr>
          <p:nvPr>
            <p:ph idx="1"/>
          </p:nvPr>
        </p:nvSpPr>
        <p:spPr>
          <a:xfrm>
            <a:off x="838200" y="1557328"/>
            <a:ext cx="10515600" cy="4985834"/>
          </a:xfrm>
        </p:spPr>
        <p:txBody>
          <a:bodyPr>
            <a:normAutofit/>
          </a:bodyPr>
          <a:lstStyle/>
          <a:p>
            <a:pPr marL="0" indent="0">
              <a:buNone/>
            </a:pPr>
            <a:r>
              <a:rPr lang="en-US" sz="2000" noProof="0" dirty="0"/>
              <a:t>For fixing the metadata and the pixel values (height and width), either manually copy the values from non-corrupted images with similar magnification or use the </a:t>
            </a:r>
            <a:r>
              <a:rPr lang="en-US" sz="2000" noProof="0" dirty="0" err="1"/>
              <a:t>fix_metadata</a:t>
            </a:r>
            <a:r>
              <a:rPr lang="en-US" sz="2000" noProof="0" dirty="0"/>
              <a:t> script. If the magnification is not 400x, the values in the script need to be manually changed as well.</a:t>
            </a:r>
          </a:p>
        </p:txBody>
      </p:sp>
    </p:spTree>
    <p:extLst>
      <p:ext uri="{BB962C8B-B14F-4D97-AF65-F5344CB8AC3E}">
        <p14:creationId xmlns:p14="http://schemas.microsoft.com/office/powerpoint/2010/main" val="2858984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1235</TotalTime>
  <Words>1007</Words>
  <Application>Microsoft Office PowerPoint</Application>
  <PresentationFormat>Widescreen</PresentationFormat>
  <Paragraphs>138</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SF Pro Display</vt:lpstr>
      <vt:lpstr>Office Theme</vt:lpstr>
      <vt:lpstr>QuPath (pos)cell counting optimization guide</vt:lpstr>
      <vt:lpstr>Overall explanation</vt:lpstr>
      <vt:lpstr>Pixel size:</vt:lpstr>
      <vt:lpstr>Background radius:</vt:lpstr>
      <vt:lpstr>PowerPoint Presentation</vt:lpstr>
      <vt:lpstr>Median Filter:</vt:lpstr>
      <vt:lpstr>Sigma</vt:lpstr>
      <vt:lpstr>Note: Smoothing filters (Median/Gaussian)</vt:lpstr>
      <vt:lpstr>PowerPoint Presentation</vt:lpstr>
      <vt:lpstr>Min Area</vt:lpstr>
      <vt:lpstr>Max Area</vt:lpstr>
      <vt:lpstr>Threshold</vt:lpstr>
      <vt:lpstr>Cell expansion</vt:lpstr>
      <vt:lpstr>subcellular detection threshold </vt:lpstr>
      <vt:lpstr>Positive cell detection thresholds</vt:lpstr>
      <vt:lpstr>*Using saved images from ImageJ</vt:lpstr>
      <vt:lpstr>*Using saved images from ImageJ</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Mohammadi</dc:creator>
  <cp:lastModifiedBy>Mohammadi, Arian</cp:lastModifiedBy>
  <cp:revision>5</cp:revision>
  <dcterms:created xsi:type="dcterms:W3CDTF">2025-07-29T07:59:08Z</dcterms:created>
  <dcterms:modified xsi:type="dcterms:W3CDTF">2025-11-09T13:26:15Z</dcterms:modified>
</cp:coreProperties>
</file>